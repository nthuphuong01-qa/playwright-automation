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playwright.dev/docs/intro" TargetMode="External"/><Relationship Id="rId2" Type="http://schemas.openxmlformats.org/officeDocument/2006/relationships/hyperlink" Target="https://playwright.dev/docs/best-practices" TargetMode="External"/><Relationship Id="rId3" Type="http://schemas.openxmlformats.org/officeDocument/2006/relationships/hyperlink" Target="https://playwright.dev/community/learn-videos" TargetMode="External"/><Relationship Id="rId4" Type="http://schemas.openxmlformats.org/officeDocument/2006/relationships/hyperlink" Target="https://playwright.dev/docs/test-agents" TargetMode="External"/><Relationship Id="rId5" Type="http://schemas.openxmlformats.org/officeDocument/2006/relationships/hyperlink" Target="https://github.com/microsoft/playwright-mcp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playwright.dev/docs/trace-viewer" TargetMode="External"/><Relationship Id="rId2" Type="http://schemas.openxmlformats.org/officeDocument/2006/relationships/hyperlink" Target="https://playwright.dev/docs/test-cli" TargetMode="External"/><Relationship Id="rId3" Type="http://schemas.openxmlformats.org/officeDocument/2006/relationships/hyperlink" Target="https://github.com/microsoft/playwright-mcp" TargetMode="External"/><Relationship Id="rId4" Type="http://schemas.openxmlformats.org/officeDocument/2006/relationships/hyperlink" Target="https://playwright.dev/docs/test-agents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65760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69480" y="365760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680960" y="365760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92440" y="365760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365760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932688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269480" y="932688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0" y="932688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8092440" y="932688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932688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0" y="1499616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269480" y="1499616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680960" y="1499616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092440" y="1499616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503920" y="1499616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066544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269480" y="2066544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80960" y="2066544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092440" y="2066544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503920" y="2066544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858000" y="2633472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7269480" y="2633472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7680960" y="2633472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092440" y="2633472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03920" y="2633472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858000" y="3200400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269480" y="3200400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680960" y="3200400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092440" y="3200400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503920" y="3200400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0" y="3767328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269480" y="3767328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0" y="3767328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8092440" y="3767328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8503920" y="3767328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6858000" y="4334256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7269480" y="4334256"/>
            <a:ext cx="54864" cy="54864"/>
          </a:xfrm>
          <a:prstGeom prst="oval">
            <a:avLst/>
          </a:prstGeom>
          <a:solidFill>
            <a:srgbClr val="3FB950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680960" y="4334256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092440" y="4334256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8503920" y="4334256"/>
            <a:ext cx="54864" cy="54864"/>
          </a:xfrm>
          <a:prstGeom prst="oval">
            <a:avLst/>
          </a:prstGeom>
          <a:solidFill>
            <a:srgbClr val="3FB950">
              <a:alpha val="8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6675120" y="274320"/>
            <a:ext cx="22860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FB950">
                    <a:alpha val="8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]</a:t>
            </a:r>
            <a:endParaRPr lang="en-US" sz="18000" dirty="0"/>
          </a:p>
        </p:txBody>
      </p:sp>
      <p:sp>
        <p:nvSpPr>
          <p:cNvPr id="44" name="Text 42"/>
          <p:cNvSpPr/>
          <p:nvPr/>
        </p:nvSpPr>
        <p:spPr>
          <a:xfrm>
            <a:off x="457200" y="640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</a:t>
            </a:r>
            <a:endParaRPr lang="en-US" sz="5800" dirty="0"/>
          </a:p>
        </p:txBody>
      </p:sp>
      <p:sp>
        <p:nvSpPr>
          <p:cNvPr id="45" name="Text 43"/>
          <p:cNvSpPr/>
          <p:nvPr/>
        </p:nvSpPr>
        <p:spPr>
          <a:xfrm>
            <a:off x="457200" y="141732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TypeScript</a:t>
            </a:r>
            <a:endParaRPr lang="en-US" sz="4600" dirty="0"/>
          </a:p>
        </p:txBody>
      </p:sp>
      <p:sp>
        <p:nvSpPr>
          <p:cNvPr id="46" name="Text 44"/>
          <p:cNvSpPr/>
          <p:nvPr/>
        </p:nvSpPr>
        <p:spPr>
          <a:xfrm>
            <a:off x="457200" y="23317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Chương trình đào tạo từ Manual QA → Automation Engineer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2834640"/>
            <a:ext cx="5029200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3000" dirty="0"/>
          </a:p>
        </p:txBody>
      </p:sp>
      <p:sp>
        <p:nvSpPr>
          <p:cNvPr id="49" name="Text 47"/>
          <p:cNvSpPr/>
          <p:nvPr/>
        </p:nvSpPr>
        <p:spPr>
          <a:xfrm>
            <a:off x="457200" y="3429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học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28600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18h</a:t>
            </a:r>
            <a:endParaRPr lang="en-US" sz="3000" dirty="0"/>
          </a:p>
        </p:txBody>
      </p:sp>
      <p:sp>
        <p:nvSpPr>
          <p:cNvPr id="51" name="Text 49"/>
          <p:cNvSpPr/>
          <p:nvPr/>
        </p:nvSpPr>
        <p:spPr>
          <a:xfrm>
            <a:off x="2286000" y="3429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 giờ học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11480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70%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4114800" y="3429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Thực hành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943600" y="29718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5943600" y="3429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Mục tiêu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3931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Mục tiêu khoá học: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4251960"/>
            <a:ext cx="2638044" cy="20116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4251960"/>
            <a:ext cx="26380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Tự viết Automation Test độc lập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749040" y="4251960"/>
            <a:ext cx="2715768" cy="2011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60" name="Text 58"/>
          <p:cNvSpPr/>
          <p:nvPr/>
        </p:nvSpPr>
        <p:spPr>
          <a:xfrm>
            <a:off x="3749040" y="4251960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Đủ skill apply job Automation QA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Format: Online tự học  +  Instructor-led trực tiếp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Đối tượng &amp; Yêu cầu đầu vào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phù hợp với khoá học này?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931920" cy="3566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PROFILE HỌC VIÊN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QA Manual ≥ 6 tháng kinh nghiệm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Đã học 1 khoá lập trình căn bản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Biết: variable, function, loop, if/else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Quen viết test case &amp; bug report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794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Muốn chuyển sang Automation QA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143000"/>
            <a:ext cx="4389120" cy="1645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12801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CẦN CÓ TRƯỚC KHI HỌC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63440" y="162763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npm (cài sẵn)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9751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Playwright 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32257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cơ bản (clone, commit)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67004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GitHub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2971800"/>
            <a:ext cx="438912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3108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SAU 18 GIỜ CÓ THỂ LÀM ĐƯỢC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32735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viết test suite từ đầu (POM)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63440" y="3575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trên 3 browsers song song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63440" y="3877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bằng Trace Viewer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41788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CI/CD với GitHub Actions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vị trí Automation QA Junior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Lộ trình 6 buổi × 3 giờ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từ zero → Page Object Model production-ready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Shape 5"/>
          <p:cNvSpPr/>
          <p:nvPr/>
        </p:nvSpPr>
        <p:spPr>
          <a:xfrm>
            <a:off x="384048" y="1325880"/>
            <a:ext cx="475488" cy="475488"/>
          </a:xfrm>
          <a:prstGeom prst="rect">
            <a:avLst/>
          </a:prstGeom>
          <a:solidFill>
            <a:srgbClr val="3FB950">
              <a:alpha val="1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32688" y="13533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&amp; First Test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4048" y="1874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· TypeScript Basics · Hello Playwright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70048" y="132588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3h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18688" y="118872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18688" y="1188720"/>
            <a:ext cx="27432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3328416" y="1325880"/>
            <a:ext cx="475488" cy="475488"/>
          </a:xfrm>
          <a:prstGeom prst="rect">
            <a:avLst/>
          </a:prstGeom>
          <a:solidFill>
            <a:srgbClr val="58A6FF">
              <a:alpha val="15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28416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77056" y="13533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Locators Mastery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328416" y="1874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getByRole · getByText · Auto-waiting · Element Actions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14416" y="132588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63056" y="118872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63056" y="1188720"/>
            <a:ext cx="2743200" cy="640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272784" y="1325880"/>
            <a:ext cx="475488" cy="475488"/>
          </a:xfrm>
          <a:prstGeom prst="rect">
            <a:avLst/>
          </a:prstGeom>
          <a:solidFill>
            <a:srgbClr val="BC8CFF">
              <a:alpha val="15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21424" y="13533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Assertions &amp; Hooks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72784" y="1874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Assertions · beforeEach · Test Suite thực tế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58784" y="132588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6324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063240"/>
            <a:ext cx="2743200" cy="6400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8" name="Shape 26"/>
          <p:cNvSpPr/>
          <p:nvPr/>
        </p:nvSpPr>
        <p:spPr>
          <a:xfrm>
            <a:off x="384048" y="3200400"/>
            <a:ext cx="475488" cy="475488"/>
          </a:xfrm>
          <a:prstGeom prst="rect">
            <a:avLst/>
          </a:prstGeom>
          <a:solidFill>
            <a:srgbClr val="E3B341">
              <a:alpha val="15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32688" y="32278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Object Model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84048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· POM Pattern · Custom Fixtures · Refactoring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70048" y="32004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18688" y="306324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18688" y="3063240"/>
            <a:ext cx="2743200" cy="64008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35" name="Shape 33"/>
          <p:cNvSpPr/>
          <p:nvPr/>
        </p:nvSpPr>
        <p:spPr>
          <a:xfrm>
            <a:off x="3328416" y="3200400"/>
            <a:ext cx="475488" cy="475488"/>
          </a:xfrm>
          <a:prstGeom prst="rect">
            <a:avLst/>
          </a:prstGeom>
          <a:solidFill>
            <a:srgbClr val="F78166">
              <a:alpha val="15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28416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877056" y="32278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&amp; Debug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3328416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Multi-browser · playwright.config · Trace Viewer · CI/CD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14416" y="32004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63056" y="3063240"/>
            <a:ext cx="2743200" cy="16916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63056" y="3063240"/>
            <a:ext cx="274320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42" name="Shape 40"/>
          <p:cNvSpPr/>
          <p:nvPr/>
        </p:nvSpPr>
        <p:spPr>
          <a:xfrm>
            <a:off x="6272784" y="3200400"/>
            <a:ext cx="475488" cy="475488"/>
          </a:xfrm>
          <a:prstGeom prst="rect">
            <a:avLst/>
          </a:prstGeom>
          <a:solidFill>
            <a:srgbClr val="3FB950">
              <a:alpha val="1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72784" y="32004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821424" y="32278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 &amp; Capstone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272784" y="374904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· Reports · GitHub Actions · Mini Project Demo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558784" y="320040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3h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434840" y="2999232"/>
            <a:ext cx="320040" cy="27432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8" name="Text 46"/>
          <p:cNvSpPr/>
          <p:nvPr/>
        </p:nvSpPr>
        <p:spPr>
          <a:xfrm>
            <a:off x="4480560" y="3017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▼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lý thuyết : thực hành  =  30% : 70%  |  Website thực hành: TodoMVC (B1–3) &amp; The-Internet (B2–6)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1–2: Nền tảng &amp; Locators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zero đến tìm element thành thạo trên bất kỳ website nào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 &amp; First Green Test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20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0:00–0:50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64208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Node, VS Code, npm init playwright@latest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00200" y="198424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0:50–1:10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6420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example test → HTML Report → Headed mode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00200" y="253288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17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1:25–1:50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6420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let/const, types, arrow fn, template literals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00200" y="308152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66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1:50–2:30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64208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3 tests trên TodoMVC bằng Codegen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00200" y="363016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2:30–3:00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64208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trúc test(), describe(), page.goto(), toHaveTitle()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00200" y="417880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Homework: 5 test cho TodoMVC (add/edit/delete/filter/clear)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143000"/>
            <a:ext cx="41148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143000"/>
            <a:ext cx="41148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Locators &amp; Element Actions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1920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0:00–0:50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53328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getByRole, getByText, getByLabel, getByTestId — hierarchy ưu tiên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9320" y="198424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0:50–1:10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5332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selectors, locator chaining, .filter(), .first(), .nth()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89320" y="253288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017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1:10–1:45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53328" y="3017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Auto-waiting: 5 actionability checks, anti-pattern waitForTimeout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89320" y="308152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566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1:45–2:30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53328" y="35661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The-Internet — Login, Checkboxes, Dropdown, Hover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89320" y="363016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2:30–3:00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53328" y="4114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actions: fill, check, selectOption, hover, keyboard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89320" y="417880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4572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Homework: 4 pages trên The-Internet (Alerts, Upload, Frames, Keys)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0" y="4846320"/>
            <a:ext cx="2743200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Buổi 1–2 dùng TodoMVC &amp; The-Internet  |  Codegen là cầu nối quan trọng nhất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3–4: Test Suite &amp; Page Object Model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Trái tim của khoá học — từ test thô đến framework có thể maintain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640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Assertions &amp; Test Suite thực tế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0:00–0:45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64208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async/await, Promise, import/export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00200" y="2002536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0:45–1:10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6420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Web-first vs Generic assertions — đúng vs sai pattern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00200" y="253288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99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1:10–1:45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64208" y="2999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Hooks: beforeEach, afterEach, beforeAll, afterAll + test.describe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00200" y="3063240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295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1:45–2:20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64208" y="35295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The-Internet — Form Authentication, Dynamic Controls, Tables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00200" y="3593592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599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2:20–3:00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64208" y="40599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Debugging: Inspector, VS Code debugger, Breakpoints workshop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00200" y="4123944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Homework: Full test suite The-Internet — 8+ tests, ghi nhận code duplication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143000"/>
            <a:ext cx="41148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143000"/>
            <a:ext cx="4114800" cy="6400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4  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 Object Model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19385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0:00–0:30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53328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Classes: constructor, readonly, properties, methods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9320" y="2002536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0:30–1:10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5332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 concept: tại sao cần, class structure, folder layout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89320" y="253288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999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1:10–1:45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53328" y="2999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coding: LoginPage class → refactor test trước/sau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89320" y="3063240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5295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1:45–2:20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53328" y="35295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tạo LoginPage, DynamicPage, TablePage từ The-Internet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89320" y="3593592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40599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2:20–3:00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53328" y="40599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Fixtures với test.extend&lt;&gt;() — inject page objects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89320" y="4123944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4572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Homework: Hoàn thiện POM, thêm custom fixture, verify toàn bộ tests green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Buổi 4 là trung tâm khoá học — POM được giới thiệu sau khi học viên tích lũy đủ 'nỗi đau' từ code trùng lặp ở buổi 3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5–6: Config, Debug &amp; Capstone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Hoàn thiện kỹ năng — từ local test đến CI/CD production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148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14800" cy="64008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+ Multi-browser + Debug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385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0:00–0:50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664208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playwright.config.ts: baseURL, projects, retries, screenshot, trace, video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600200" y="2002536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0:50–1:10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66420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multi-browser: Chromium + Firefox + WebKit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600200" y="253288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99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1:25–1:55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664208" y="2999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Viewer: time-travel debug, DOM snapshots, network tab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600200" y="3063240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295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1:55–2:25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664208" y="35295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Break the Test — Dynamic Controls → dùng Trace Viewer tìm nguyên nhân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00200" y="3593592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0599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2:25–3:00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64208" y="40599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Inspector, VS Code debugger, screenshot/video on failure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600200" y="4123944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5720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Homework: Chuẩn bị capstone — chọn site, lên 8–12 test cases, sketch POM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143000"/>
            <a:ext cx="411480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143000"/>
            <a:ext cx="411480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1234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6  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463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CI/CD &amp; Capstone Project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19385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0:00–0:20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53328" y="193852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workers, fullyParallel, tags @smoke/@regression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9320" y="2002536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0:20–0:40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053328" y="2468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Reporting: HTML reporter built-in — walkthrough đầy đủ, test tags @smoke/@regression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989320" y="2532888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29992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0:40–1:05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53328" y="299923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workflow YAML, install browsers, artifacts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989320" y="3063240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52958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1:20–2:20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053328" y="35295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build test suite từ đầu (8–12 tests, POM, multi-browser)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989320" y="3593592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1" name="Text 39"/>
          <p:cNvSpPr/>
          <p:nvPr/>
        </p:nvSpPr>
        <p:spPr>
          <a:xfrm>
            <a:off x="4846320" y="405993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2:20–3:00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053328" y="4059936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Day: 3–4 học viên present &amp; chạy tests trực tiếp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89320" y="4123944"/>
            <a:ext cx="27432" cy="29260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44" name="Shape 42"/>
          <p:cNvSpPr/>
          <p:nvPr/>
        </p:nvSpPr>
        <p:spPr>
          <a:xfrm>
            <a:off x="4663440" y="4572000"/>
            <a:ext cx="4114800" cy="50292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09160" y="4572000"/>
            <a:ext cx="39776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Capstone deliverables: 8–12 tests  |  3+ Page classes  |  2+ browsers  |  GitHub Actions pipeline  |  README.md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cho QA — Just-in-Time, không học thừa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Chỉ cover những gì thực sự cần để viết Playwright test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5212080" cy="2148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521208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61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PHẢI HỌC KỸ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11480" y="1591056"/>
            <a:ext cx="347472" cy="20116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9105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04672" y="159105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let/const, basic types, arrow functions, template literals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1911096"/>
            <a:ext cx="347472" cy="20116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110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04672" y="1911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Arrays, objects, destructuring, spread operator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2231136"/>
            <a:ext cx="347472" cy="20116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23113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04672" y="223113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async/await, Promise, try/catch, import/export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551176"/>
            <a:ext cx="347472" cy="20116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5117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04672" y="255117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constructor, readonly properties, methods, interfaces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2871216"/>
            <a:ext cx="347472" cy="201168"/>
          </a:xfrm>
          <a:prstGeom prst="rect">
            <a:avLst/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87121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04672" y="28712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chaining (?.), nullish coalescing (??), type assertions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429000"/>
            <a:ext cx="52120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29000"/>
            <a:ext cx="5212080" cy="64008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547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BỎ QUA — KHÔNG CẦN TRONG 18H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02920" y="37673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nâng cao (conditional, mapped types)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400507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&amp; metadata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424281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 &amp; module augmentation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48056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classes &amp; method overloading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" y="471830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literal types, Symbols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669280" y="1143000"/>
            <a:ext cx="3200400" cy="384048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69280" y="1143000"/>
            <a:ext cx="320040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3" name="Text 31"/>
          <p:cNvSpPr/>
          <p:nvPr/>
        </p:nvSpPr>
        <p:spPr>
          <a:xfrm>
            <a:off x="5870448" y="1261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NGUYÊN TẮC JUST-IN-TIME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06440" y="1554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Không dạy TypeScript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như 1 môn riêng biệt.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806440" y="2286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buổi học đúng TS concept cần thiết tại thời điểm đó.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669280" y="2880360"/>
            <a:ext cx="320040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870448" y="29992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PHÂN BỔ THỜI GIAN 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806440" y="3337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1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3401568"/>
            <a:ext cx="1828800" cy="1280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0" name="Shape 38"/>
          <p:cNvSpPr/>
          <p:nvPr/>
        </p:nvSpPr>
        <p:spPr>
          <a:xfrm>
            <a:off x="6766560" y="3401568"/>
            <a:ext cx="1005840" cy="12801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1" name="Text 39"/>
          <p:cNvSpPr/>
          <p:nvPr/>
        </p:nvSpPr>
        <p:spPr>
          <a:xfrm>
            <a:off x="8321040" y="33375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~50 min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806440" y="36393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2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766560" y="3703320"/>
            <a:ext cx="1828800" cy="1280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4" name="Shape 42"/>
          <p:cNvSpPr/>
          <p:nvPr/>
        </p:nvSpPr>
        <p:spPr>
          <a:xfrm>
            <a:off x="6766560" y="3703320"/>
            <a:ext cx="603504" cy="12801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5" name="Text 43"/>
          <p:cNvSpPr/>
          <p:nvPr/>
        </p:nvSpPr>
        <p:spPr>
          <a:xfrm>
            <a:off x="8321040" y="36393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min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06440" y="394106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3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766560" y="4005072"/>
            <a:ext cx="1828800" cy="1280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48" name="Shape 46"/>
          <p:cNvSpPr/>
          <p:nvPr/>
        </p:nvSpPr>
        <p:spPr>
          <a:xfrm>
            <a:off x="6766560" y="4005072"/>
            <a:ext cx="603504" cy="12801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9" name="Text 47"/>
          <p:cNvSpPr/>
          <p:nvPr/>
        </p:nvSpPr>
        <p:spPr>
          <a:xfrm>
            <a:off x="8321040" y="39410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min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806440" y="42428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4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766560" y="4306824"/>
            <a:ext cx="1828800" cy="1280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2" name="Shape 50"/>
          <p:cNvSpPr/>
          <p:nvPr/>
        </p:nvSpPr>
        <p:spPr>
          <a:xfrm>
            <a:off x="6766560" y="4306824"/>
            <a:ext cx="914400" cy="12801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3" name="Text 51"/>
          <p:cNvSpPr/>
          <p:nvPr/>
        </p:nvSpPr>
        <p:spPr>
          <a:xfrm>
            <a:off x="8321040" y="424281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~45 min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806440" y="45445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5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766560" y="4608576"/>
            <a:ext cx="1828800" cy="128016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6" name="Shape 54"/>
          <p:cNvSpPr/>
          <p:nvPr/>
        </p:nvSpPr>
        <p:spPr>
          <a:xfrm>
            <a:off x="6766560" y="4608576"/>
            <a:ext cx="292608" cy="12801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7" name="Text 55"/>
          <p:cNvSpPr/>
          <p:nvPr/>
        </p:nvSpPr>
        <p:spPr>
          <a:xfrm>
            <a:off x="8321040" y="4544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min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806440" y="486460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Tổng: ~4–5 giờ rải đều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Locator Strategy &amp; Tech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Hierarchy ưu tiên theo Playwright best practices + Tools sử dụng trong khoá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393192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261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LOCATOR HIERARCHY — ƯU TIÊN TỪ TRÊN XUỐNG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609344"/>
            <a:ext cx="3200400" cy="347472"/>
          </a:xfrm>
          <a:prstGeom prst="rect">
            <a:avLst/>
          </a:prstGeom>
          <a:solidFill>
            <a:srgbClr val="3FB950">
              <a:alpha val="12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27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getByRole()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79222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User-facing, accessible — luôn ưu tiên đầu tiên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2926080" cy="347472"/>
          </a:xfrm>
          <a:prstGeom prst="rect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2140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getByText()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 nội dung visible text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11480" y="2596896"/>
            <a:ext cx="2651760" cy="347472"/>
          </a:xfrm>
          <a:prstGeom prst="rect">
            <a:avLst/>
          </a:prstGeom>
          <a:solidFill>
            <a:srgbClr val="58A6FF">
              <a:alpha val="12000"/>
            </a:srgbClr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1518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getByLabel()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77977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fields — dùng label text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2377440" cy="347472"/>
          </a:xfrm>
          <a:prstGeom prst="rect">
            <a:avLst/>
          </a:prstGeom>
          <a:solidFill>
            <a:srgbClr val="BC8CFF">
              <a:alpha val="12000"/>
            </a:srgbClr>
          </a:solidFill>
          <a:ln w="12700">
            <a:solidFill>
              <a:srgbClr val="BC8C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089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getByTestId()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27355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data-testid — stable fallback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3584448"/>
            <a:ext cx="2103120" cy="347472"/>
          </a:xfrm>
          <a:prstGeom prst="rect">
            <a:avLst/>
          </a:prstGeom>
          <a:solidFill>
            <a:srgbClr val="8B949E">
              <a:alpha val="12000"/>
            </a:srgbClr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6027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CSS Selector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3767328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không có user-facing attr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4078224"/>
            <a:ext cx="1828800" cy="347472"/>
          </a:xfrm>
          <a:prstGeom prst="rect">
            <a:avLst/>
          </a:prstGeom>
          <a:solidFill>
            <a:srgbClr val="F78166">
              <a:alpha val="12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965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XPath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426110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Tránh dùng — brittle nhất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34840" y="1143000"/>
            <a:ext cx="438912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1261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TECH STACK KHOÁ HỌC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63440" y="15727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63440" y="179222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Test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63440" y="204825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63440" y="230428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18+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663440" y="26151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PRACTICE SITES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63440" y="283464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TodoMVC — B1–3 (simple, no login)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663440" y="309067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The-Internet — B2–6 (40+ scenarios)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663440" y="34015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663440" y="362102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PW Extension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663440" y="3877056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Codegen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663440" y="4133088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663440" y="4389120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Inspector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663440" y="47000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63440" y="4919472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Reporter (built-in)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663440" y="5175504"/>
            <a:ext cx="4023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74320" y="4919472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Codegen: ghi lại thao tác → sinh locator tự động → học viên review &amp; tối ưu. Cầu nối quan trọng nhất cho QA manual!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Đánh giá &amp; Hình thức triển khai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Dual-format: Online tự học + Instructor-led trực tiếp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069080" cy="374904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069080" cy="640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61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ASSESSMENT FRAMEWORK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38912" y="1618488"/>
            <a:ext cx="850392" cy="20116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1618488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Mỗi buổi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18470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check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8912" y="202082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đầu mỗi buổi: học viên live-show homework, Q&amp;A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" y="2221992"/>
            <a:ext cx="928116" cy="20116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2221992"/>
            <a:ext cx="92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Cuối buổi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450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gate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" y="26243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câu hỏi nhanh cuối mỗi buổi — xác nhận học viên ready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38912" y="2825496"/>
            <a:ext cx="850392" cy="20116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2825496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4–5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305409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" y="32278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chưa từng thấy + 30 phút + 3 tests — xem locator choice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" y="3429000"/>
            <a:ext cx="694944" cy="20116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3429000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38912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Test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8912" y="3831336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Dynamic Controls trên The-Internet, dùng Trace Viewer tìm nguyên nhân test fail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38912" y="4032504"/>
            <a:ext cx="694944" cy="20116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403250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Buổi 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38912" y="4261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demo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8912" y="4434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live: chạy tests, explain POM, debug 1 failure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1143000"/>
            <a:ext cx="4206240" cy="1737360"/>
          </a:xfrm>
          <a:prstGeom prst="rect">
            <a:avLst/>
          </a:prstGeom>
          <a:solidFill>
            <a:srgbClr val="21262D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1143000"/>
            <a:ext cx="420624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2618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INSTRUCTOR-LED SESSIONS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46320" y="157276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Buổi dạy: 30% lý thuyết, 70% pair coding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46320" y="182880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Giảng viên live-code cùng học viên (code-along)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2084832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workshop thực tế — break &amp; fix có chủ đích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2340864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mở đầu mỗi buổi (review homework 20 phút)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259689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Day buổi 6: học viên present project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17720" y="3017520"/>
            <a:ext cx="4206240" cy="1691640"/>
          </a:xfrm>
          <a:prstGeom prst="rect">
            <a:avLst/>
          </a:prstGeom>
          <a:solidFill>
            <a:srgbClr val="21262D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3017520"/>
            <a:ext cx="420624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46320" y="313639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SELF-STUDY RESOURCES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3383280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Getting Started  </a:t>
            </a:r>
            <a:pPr indent="0" marL="0">
              <a:buNone/>
            </a:pPr>
            <a:r>
              <a:rPr lang="en-US" sz="900" u="sng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playwright.dev/docs/intro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46320" y="3643884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Best Practices  </a:t>
            </a:r>
            <a:pPr indent="0" marL="0">
              <a:buNone/>
            </a:pPr>
            <a:r>
              <a:rPr lang="en-US" sz="900" u="sng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playwright.dev/docs/best-practices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846320" y="39044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Learn Videos  </a:t>
            </a:r>
            <a:pPr indent="0" marL="0">
              <a:buNone/>
            </a:pPr>
            <a:r>
              <a:rPr lang="en-US" sz="900" u="sng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playwright.dev/community/learn-videos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41650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Test Agents  </a:t>
            </a:r>
            <a:pPr indent="0" marL="0">
              <a:buNone/>
            </a:pPr>
            <a:r>
              <a:rPr lang="en-US" sz="900" u="sng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playwright.dev/docs/test-agents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44256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Playwright MCP  </a:t>
            </a:r>
            <a:pPr indent="0" marL="0">
              <a:buNone/>
            </a:pPr>
            <a:r>
              <a:rPr lang="en-US" sz="900" u="sng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github.com/microsoft/playwright-mcp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solidFill>
            <a:srgbClr val="21262D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Pitfalls giảng viên cần tránh: dạy CSS/XPath trước · setup &gt;45 phút · giới thiệu POM trước khi học viên cảm nhận pain point · quá nhiều lý thuyết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trong Playwright — Tương lai của QA Automation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tính năng AI mới nhất trên playwright.dev — học viên tự khám phá sau khoá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1605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416052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234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1216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 as Prompt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8912" y="15361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Khi test fail → click "Copy as Prompt" trong Trace Viewer / HTML Report / UI Mode → paste vào Copilot/Claude → AI tự phân tích stack trace + ARIA snapshot + test source code và đề xuất fix.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" y="2121408"/>
            <a:ext cx="1161288" cy="2011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212140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 Viewer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389888" y="2121408"/>
            <a:ext cx="1083564" cy="2011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1389888" y="2121408"/>
            <a:ext cx="10835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 Report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2121408"/>
            <a:ext cx="772668" cy="20116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2121408"/>
            <a:ext cx="772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 Mode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24231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playwright.dev/docs/trace-viewer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41605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143000"/>
            <a:ext cx="4160520" cy="64008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12344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57800" y="121615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CLI + SKILLS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53619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agents (Claude Code, Copilot) dùng CLI commands thay vì MCP để tiết kiệm context window. SKILLS là tập hướng dẫn giúp agent hiểu cách viết test đúng chuẩn Playwright.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2084832"/>
            <a:ext cx="374904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test --reporter=line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450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playwright.dev/docs/test-cli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108960"/>
            <a:ext cx="41605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108960"/>
            <a:ext cx="4160520" cy="64008"/>
          </a:xfrm>
          <a:prstGeom prst="rect">
            <a:avLst/>
          </a:prstGeom>
          <a:solidFill>
            <a:srgbClr val="F78166"/>
          </a:solidFill>
          <a:ln/>
        </p:spPr>
      </p:sp>
      <p:sp>
        <p:nvSpPr>
          <p:cNvPr id="27" name="Text 25"/>
          <p:cNvSpPr/>
          <p:nvPr/>
        </p:nvSpPr>
        <p:spPr>
          <a:xfrm>
            <a:off x="411480" y="3200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MCP Server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38912" y="35021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điều khiển real browser qua MCP protocol. AI hiểu page structure qua ARIA accessibility snapshot thay vì pixels. Dùng với GitHub Copilot Agent Mode / Claude / GPT.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38912" y="4050792"/>
            <a:ext cx="3749040" cy="32004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@playwright/mcp@latest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8912" y="44165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F78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github.com/microsoft/playwright-mcp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3108960"/>
            <a:ext cx="4160520" cy="18288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108960"/>
            <a:ext cx="4160520" cy="64008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35" name="Text 33"/>
          <p:cNvSpPr/>
          <p:nvPr/>
        </p:nvSpPr>
        <p:spPr>
          <a:xfrm>
            <a:off x="4846320" y="320040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57800" y="31821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 Test Agents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846320" y="3520440"/>
            <a:ext cx="594360" cy="201168"/>
          </a:xfrm>
          <a:prstGeom prst="rect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52044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0" y="35387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Khám phá app → sinh test plan dạng Markdown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904488"/>
            <a:ext cx="594360" cy="201168"/>
          </a:xfrm>
          <a:prstGeom prst="rect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90448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Generator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86400" y="392277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Biến plan thành Playwright test code thực thi được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46320" y="4288536"/>
            <a:ext cx="594360" cy="201168"/>
          </a:xfrm>
          <a:prstGeom prst="rect">
            <a:avLst/>
          </a:prstGeom>
          <a:solidFill>
            <a:srgbClr val="E3B341">
              <a:alpha val="2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46320" y="42885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Healer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486400" y="430682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phát hiện test fail và đề xuất fix tự động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4663440"/>
            <a:ext cx="3749040" cy="210312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892040" y="4681728"/>
            <a:ext cx="3657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playwright init-agents --loop=vscode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46320" y="4910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E3B341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playwright.dev/docs/test-agents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0" y="4919472"/>
            <a:ext cx="4297680" cy="224028"/>
          </a:xfrm>
          <a:prstGeom prst="rect">
            <a:avLst/>
          </a:prstGeom>
          <a:solidFill>
            <a:srgbClr val="21262D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4919472"/>
            <a:ext cx="411480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Sau khoá học: tự thử Playwright MCP với GitHub Copilot Agent Mode → đây là hướng phát triển tiếp theo của QA Automation Engineer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6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Checklist kỹ năng sau 18 giờ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viên có thể làm được gì sau khoá học?  →  Đây là tiêu chí đánh giá và cũng là cam kết của chương trình.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432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298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SETUP &amp; PROJECT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project Playwright + TS từ đầu hoàn toàn độc lập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11480" y="222199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playwright.config.ts (browsers, timeouts, reporters)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46120" y="1188720"/>
            <a:ext cx="27432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10712" y="1298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LOCATORS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383280" y="162763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Chọn đúng locator strategy (hierarchy từ getByRole → XPath)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83280" y="222199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Codegen, Inspector, filter chains thành thạo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1188720"/>
            <a:ext cx="27432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82512" y="12984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ASSERTIONS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55080" y="162763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web-first assertions với auto-retry đúng pattern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5080" y="222199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và tránh generic assertions (sai pattern)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7432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3172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TEST ORGANIZATION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11480" y="35021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hooks tổ chức test (beforeEach, describe)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409651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POM với 3+ page classes đúng chuẩn Playwright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246120" y="3063240"/>
            <a:ext cx="27432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10712" y="3172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ADVANCED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83280" y="35021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multi-browser (Chromium, Firefox, WebKit) song song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383280" y="409651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parallel execution, test tags (@smoke/@regression)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3063240"/>
            <a:ext cx="2743200" cy="17373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82512" y="31729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DEBUG &amp; CI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55080" y="35021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bằng Trace Viewer — phân tích failure độc lập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55080" y="409651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GitHub Actions: trigger, install, run, upload artifacts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 QA → Automation Engineer  |  18 giờ  ·  6 buổi  ·  30:70 lý thuyết:thực hành  ·  TodoMVC + The-Internet  ·  GitHub Actions CI/CD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+ TypeScript — Chương trình đào tạo 6 buổi</dc:title>
  <dc:subject>PptxGenJS Presentation</dc:subject>
  <dc:creator>PptxGenJS</dc:creator>
  <cp:lastModifiedBy>PptxGenJS</cp:lastModifiedBy>
  <cp:revision>1</cp:revision>
  <dcterms:created xsi:type="dcterms:W3CDTF">2026-02-28T06:23:31Z</dcterms:created>
  <dcterms:modified xsi:type="dcterms:W3CDTF">2026-02-28T06:23:31Z</dcterms:modified>
</cp:coreProperties>
</file>